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DD"/>
                </a:solidFill>
                <a:latin typeface="Calibri"/>
              </a:rPr>
              <a:t>Aprendizaje Profundo — UNSAM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7373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RNN, LSTM y GRU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97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9B5E0"/>
                </a:solidFill>
                <a:latin typeface="Calibri"/>
              </a:rPr>
              <a:t>Pronóstico de Series de Tiempo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383280"/>
            <a:ext cx="64008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5204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Dataset: Jena Climate (Max Planck Institute, 2009–2016)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Framework: PyTorch  |  Idioma: Español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94F37"/>
                </a:solidFill>
                <a:latin typeface="Calibri"/>
              </a:rPr>
              <a:t>SimpleRNN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>
                <a:solidFill>
                  <a:srgbClr val="39B5E0"/>
                </a:solidFill>
                <a:latin typeface="Calibri"/>
              </a:rPr>
              <a:t>LSTM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2000" b="0">
                <a:solidFill>
                  <a:srgbClr val="4CD97A"/>
                </a:solidFill>
                <a:latin typeface="Calibri"/>
              </a:rPr>
              <a:t>GRU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Estructura de la clase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Series de tiempo: conceptos y dataset de Jena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072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Preprocesamiento y ventanas deslizantes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0416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Baselines (sentido común y MLP)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5780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27608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RNN: mecánica e implementación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727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554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LSTM: compuertas y estado de la celda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8072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88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GRU: simplificación eficiente de la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023360"/>
            <a:ext cx="45720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416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23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Comparación final de modelos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1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Series de tiempo y preprocesamiento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¿Qué es una serie de tiempo?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Mediciones ordenadas en el tiempo a intervalos regulares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Ejemplos cotidianos: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93392"/>
            <a:ext cx="32004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Temperatura cada 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  <a:latin typeface="Calibri"/>
              </a:rPr>
              <a:t>Meteorología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79192"/>
            <a:ext cx="32004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Precio de acción diario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  <a:latin typeface="Calibri"/>
              </a:rPr>
              <a:t>Economía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32004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ECG (electrocardiograma)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  <a:latin typeface="Calibri"/>
              </a:rPr>
              <a:t>Medicina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50792"/>
            <a:ext cx="32004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Ventas semanales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77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  <a:latin typeface="Calibri"/>
              </a:rPr>
              <a:t>Logística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36592"/>
            <a:ext cx="320040" cy="3200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Consumo eléctrico horario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DD"/>
                </a:solidFill>
                <a:latin typeface="Calibri"/>
              </a:rPr>
              <a:t>Ingeniería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B5E0"/>
                </a:solidFill>
                <a:latin typeface="Calibri"/>
              </a:rPr>
              <a:t>Tareas principales: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5394960" cy="86868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7A"/>
                </a:solidFill>
                <a:latin typeface="Calibri"/>
              </a:rPr>
              <a:t>Pronóstico (Forecasting)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Predecir valores futuros a partir del pasado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26080"/>
            <a:ext cx="5394960" cy="86868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7A"/>
                </a:solidFill>
                <a:latin typeface="Calibri"/>
              </a:rPr>
              <a:t>Detección de anomalías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Identificar comportamientos inusuales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6868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7A"/>
                </a:solidFill>
                <a:latin typeface="Calibri"/>
              </a:rPr>
              <a:t>Clasificación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Asignar etiquetas a segmentos de la serie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37760"/>
            <a:ext cx="5394960" cy="86868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7A"/>
                </a:solidFill>
                <a:latin typeface="Calibri"/>
              </a:rPr>
              <a:t>Detección de eventos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Encontrar ocurrencias de patrones específicos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F37"/>
                </a:solidFill>
                <a:latin typeface="Calibri"/>
              </a:rPr>
              <a:t>Este notebook → Pronóstico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Dataset climático de Jena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Max Planck Institute for Biogeochemistry, Alemania (2009–2016)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Características del dataset: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420.551 mediciones (cada 10 minutos)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14 variables climáticas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8 años de datos (2009–2016)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39B5E0"/>
                </a:solidFill>
                <a:latin typeface="Calibri"/>
              </a:rPr>
              <a:t>Variables incluidas: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T (°C)     — temperatura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p (mbar)  — presión atmosférica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rh (%)    — humedad relativa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wv (m/s)  — velocidad del viento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wd (deg)  — dirección del viento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• + 9 variables más...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Problema de pronóstico: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Dado el historial de las últimas 5 días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(120 horas, submuestreadas a 1/hora),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predecir la temperatura 24 horas después.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39B5E0"/>
                </a:solidFill>
                <a:latin typeface="Calibri"/>
              </a:rPr>
              <a:t>Partición temporal (respeta el orden):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297680"/>
            <a:ext cx="2011680" cy="5029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361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Entrenamiento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616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4361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  <a:latin typeface="Calibri"/>
              </a:rPr>
              <a:t>~210.000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864608"/>
            <a:ext cx="2011680" cy="502920"/>
          </a:xfrm>
          <a:prstGeom prst="rect">
            <a:avLst/>
          </a:prstGeom>
          <a:solidFill>
            <a:srgbClr val="39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9286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928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928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  <a:latin typeface="Calibri"/>
              </a:rPr>
              <a:t>~105.000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5431536"/>
            <a:ext cx="201168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54955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4955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5495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  <a:latin typeface="Calibri"/>
              </a:rPr>
              <a:t>~105.000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94F37"/>
                </a:solidFill>
                <a:latin typeface="Calibri"/>
              </a:rPr>
              <a:t>Importante: nunca usar val/test para normalizar.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Preprocesamiento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Normalización y ventanas deslizantes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9B5E0"/>
                </a:solidFill>
                <a:latin typeface="Calibri"/>
              </a:rPr>
              <a:t>Normalización (solo con estadísticas del conjunto de entrenamiento):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143000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1556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x̃ = (x - μ_train) / σ_train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mean = raw_data[:num_train].mean(axis=0)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std  = raw_data[:num_train].std(axis=0)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data_norm = (raw_data - mean) / std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9B5E0"/>
                </a:solidFill>
                <a:latin typeface="Calibri"/>
              </a:rPr>
              <a:t>Ventanas deslizantes (JenaWindowDataset):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86200"/>
            <a:ext cx="2743200" cy="47548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7A"/>
                </a:solidFill>
                <a:latin typeface="Calibri"/>
              </a:rPr>
              <a:t>sampling_rate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977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1 muestra por hora  (dataset: 1 cada 10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480560"/>
            <a:ext cx="2743200" cy="47548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44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7A"/>
                </a:solidFill>
                <a:latin typeface="Calibri"/>
              </a:rPr>
              <a:t>sequence_length = 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572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5 días de historia  (120 horas)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74920"/>
            <a:ext cx="2743200" cy="47548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38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7A"/>
                </a:solidFill>
                <a:latin typeface="Calibri"/>
              </a:rPr>
              <a:t>delay = 858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target: temperatura 24 h después del último timestep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60720"/>
            <a:ext cx="1143000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# Cada muestra: X=(120, 14) → y=temperatura real en 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Baselines: sentido común y MLP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Baseline de sentido común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La cota que cualquier modelo debe superar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118872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"La temperatura en 24 horas será igual a la temperatura ahora."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DD"/>
                </a:solidFill>
                <a:latin typeface="Calibri"/>
              </a:rPr>
              <a:t>Heurística sin aprendizaje — aprovecha la inercia de la temperatura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B5E0"/>
                </a:solidFill>
                <a:latin typeface="Calibri"/>
              </a:rPr>
              <a:t>Métrica: Error Absoluto Medio (MAE)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383280"/>
            <a:ext cx="6400800" cy="82296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40156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CD97A"/>
                </a:solidFill>
                <a:latin typeface="Calibri"/>
              </a:rPr>
              <a:t>MAE  =  (1/n) × Σ |ŷᵢ - yᵢ|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97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Resultados del baseline: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Validación MAE ≈ 2.44 °C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Test       MAE ≈ 2.62 °C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¿Por qué es difícil de superar? La temperatura tiene mucha inercia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diaria: el mañana se parece bastante al hoy.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297680"/>
            <a:ext cx="365760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Meta: superar este valor con modelos de deep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Baseline MLP (red densa)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¿Qué pasa si simplemente aplanamos la secuencia?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Arquitectura: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Input (batch, 120, 14)  →  Flatten  →  Dense(16, ReLU)  →  Dense(1)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E94F37"/>
                </a:solidFill>
                <a:latin typeface="Calibri"/>
              </a:rPr>
              <a:t>Problema fundamental: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CCCCDD"/>
                </a:solidFill>
                <a:latin typeface="Calibri"/>
              </a:rPr>
              <a:t>• Al aplanar del tensor (batch, 120, 14) a (batch, 1680),</a:t>
            </a:r>
          </a:p>
          <a:p>
            <a:pPr algn="l"/>
            <a:r>
              <a:rPr sz="1700" b="0">
                <a:solidFill>
                  <a:srgbClr val="CCCCDD"/>
                </a:solidFill>
                <a:latin typeface="Calibri"/>
              </a:rPr>
              <a:t>  se destruye completamente el ORDER temporal.</a:t>
            </a:r>
          </a:p>
          <a:p>
            <a:pPr algn="l"/>
            <a:r>
              <a:rPr sz="1700" b="0">
                <a:solidFill>
                  <a:srgbClr val="CCCCDD"/>
                </a:solidFill>
                <a:latin typeface="Calibri"/>
              </a:rPr>
              <a:t>• El modelo no sabe cuál feature corresponde a 'hace 5 días'</a:t>
            </a:r>
          </a:p>
          <a:p>
            <a:pPr algn="l"/>
            <a:r>
              <a:rPr sz="1700" b="0">
                <a:solidFill>
                  <a:srgbClr val="CCCCDD"/>
                </a:solidFill>
                <a:latin typeface="Calibri"/>
              </a:rPr>
              <a:t>  versus 'hace 1 hora'.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E94F37"/>
                </a:solidFill>
                <a:latin typeface="Calibri"/>
              </a:rPr>
              <a:t>Resultado: MAE ~ 2.6–2.8 °C  (no supera el baseline)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508760"/>
            <a:ext cx="457200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9" y="1600200"/>
            <a:ext cx="4297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class MLPModel(nn.Module):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def __init__(self, seq_len=120, n_features=14):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super().__init__()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self.net = nn.Sequential(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nn.Flatten(),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nn.Linear(seq_len * n_features, 16),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nn.ReLU(),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nn.Linear(16, 1),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def forward(self, x):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return self.net(x)  # orden destruido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9B5E0"/>
                </a:solidFill>
                <a:latin typeface="Calibri"/>
              </a:rPr>
              <a:t>Conclusión: necesitamos una arquitectura que RESPETE el orden temporal.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Redes Neuronales Recurrentes (RNN)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Red Neuronal Recurrente (RNN)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Una red con memoria: el estado oculto hₜ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Idea clave: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Una RNN procesa una secuencia paso a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paso, manteniendo un estado oculto hₜ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que acumula información del pasado.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Ecuación fundamental: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794760"/>
            <a:ext cx="5303520" cy="77724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D97A"/>
                </a:solidFill>
                <a:latin typeface="Calibri"/>
              </a:rPr>
              <a:t>hₜ = tanh( Wₓ · xₜ + Wₕ · hₜ₋₁ + b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63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xₜ  — entrada en el paso t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hₜ₋₁ — estado oculto anterior (memoria)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Wₓ, Wₕ — matrices de pesos (aprendibles)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hₜ  — nuevo estado (resume el pasado)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508760"/>
            <a:ext cx="576072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4864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# Pseudocódigo del loop RNN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h = zeros(hidden_size)      # estado inicial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for x_t in secuencia: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h = tanh(W_x @ x_t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+ W_h @ h + b)  # actualiza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pred = W_out @ h             # usa solo h_T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9B5E0"/>
                </a:solidFill>
                <a:latin typeface="Calibri"/>
              </a:rPr>
              <a:t>Ventaja vs MLP: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• Preserva el orden temporal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• Puede procesar secuencias de longitud variable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• Los parámetros se comparten en todos los pasos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RNN manual en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Loop recurrente explícito — exactamente lo que hace nn.RNN internamente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685800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5836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class ManualRNNModel(nn.Module):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def __init__(self, input_size, hidden_size):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super().__init__()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self.W_x = nn.Linear(input_size,  hidden_size, bias=False)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self.W_h = nn.Linear(hidden_size, hidden_size, bias=True)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self.fc  = nn.Linear(hidden_size, 1)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def forward(self, x):              # x: (batch, seq_len, features)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h = torch.zeros(batch, hidden) # estado inicial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for t in range(seq_len):       # ← el loop recurrente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x_t = x[:, t, :]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h = torch.tanh(            # ecuación de la RNN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     self.W_x(x_t) + self.W_h(h)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 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return self.fc(h)              # pronóstico a partir de h_T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5087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9B5E0"/>
                </a:solidFill>
                <a:latin typeface="Calibri"/>
              </a:rPr>
              <a:t>Puntos clave: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El loop for t es la RNN.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h se actualiza en CADA paso.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• Solo usamos el estado final h_T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  para hacer el pronóstico.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900" b="1">
                <a:solidFill>
                  <a:srgbClr val="39B5E0"/>
                </a:solidFill>
                <a:latin typeface="Calibri"/>
              </a:rPr>
              <a:t>Versión de PyTorch (equivalente):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4480560"/>
            <a:ext cx="438912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4572000"/>
            <a:ext cx="4114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self.rnn = nn.RNN(input_size,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   hidden_size,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   batch_first=True)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_, h_n = self.rnn(x)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return self.fc(h_n.squeeze(0))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El problema de los gradientes que desaparecen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¿Por qué la RNN simple falla con secuencias largas?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9B5E0"/>
                </a:solidFill>
                <a:latin typeface="Calibri"/>
              </a:rPr>
              <a:t>Backpropagation Through Time (BPTT):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11430000" cy="9144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CD97A"/>
                </a:solidFill>
                <a:latin typeface="Calibri"/>
              </a:rPr>
              <a:t>∂L/∂h₀  =  ∂L/∂hₜ · ∏ᵢ ∂hᵢ/∂hᵢ₋₁  ≈  ∂L/∂hₜ · (Wₕ)ᵀ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94F37"/>
                </a:solidFill>
                <a:latin typeface="Calibri"/>
              </a:rPr>
              <a:t>Consecuencia: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Si los valores propios de Wₕ &lt; 1:  gradiente → 0  (desaparece)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Para T=120 pasos: (Wₕ)¹²⁰ ≈ 0,  los pasos lejanos no aprenden nada.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Si los valores propios de Wₕ &gt; 1:  gradiente → ∞ (explota)</a:t>
            </a:r>
          </a:p>
          <a:p>
            <a:pPr algn="l"/>
            <a:r>
              <a:rPr sz="1600" b="0">
                <a:solidFill>
                  <a:srgbClr val="CCCCDD"/>
                </a:solidFill>
                <a:latin typeface="Calibri"/>
              </a:rPr>
              <a:t>  → clipping de gradiente es una solución parcial.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577840"/>
            <a:ext cx="11430000" cy="77724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39B5E0"/>
                </a:solidFill>
                <a:latin typeface="Calibri"/>
              </a:rPr>
              <a:t>Solución: diseñar arquitecturas con 'autopistas' para el gradiente → LSTM y GRU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LSTM — Long Short-Term Memory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LSTM: intuición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Hochreiter &amp; Schmidhuber (1997) — solución al gradiente que desaparece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105156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DD"/>
                </a:solidFill>
                <a:latin typeface="Calibri"/>
              </a:rPr>
              <a:t>Imaginá una cinta transportadora (estado de la celda cₜ) que corre en paralelo a la secuencia.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DD"/>
                </a:solidFill>
                <a:latin typeface="Calibri"/>
              </a:rPr>
              <a:t>La información puede 'subirse', 'bajarse' o continuar intacta. Las compuertas controlan el flujo.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02920" cy="6858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52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fₜ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61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  <a:latin typeface="Calibri"/>
              </a:rPr>
              <a:t>Forget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¿Cuánto del estado anterior cₜ₋₁ conservar?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502920" cy="685800"/>
          </a:xfrm>
          <a:prstGeom prst="rect">
            <a:avLst/>
          </a:prstGeom>
          <a:solidFill>
            <a:srgbClr val="39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67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iₜ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75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B5E0"/>
                </a:solidFill>
                <a:latin typeface="Calibri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416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¿Cuánta información nueva agregar?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502920" cy="68580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681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c̃ₜ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90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7A"/>
                </a:solidFill>
                <a:latin typeface="Calibri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Propuesta de nueva información (tanh)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50292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6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oₜ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70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¿Cuánto del estado exponer como hₜ?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92240"/>
            <a:ext cx="11430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CD97A"/>
                </a:solidFill>
                <a:latin typeface="Calibri"/>
              </a:rPr>
              <a:t>Ecuación del estado de la celda:   cₜ  =  fₜ ⊙ cₜ₋₁  +  iₜ ⊙ c̃ₜ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LSTM: ecuaciones completas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4 proyecciones lineales + activaciones no lineales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  <a:latin typeface="Calibri"/>
              </a:rPr>
              <a:t>fₜ = σ( Wxf·xₜ + Whf·hₜ₋₁ + bf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673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forget gate — olvido del pasado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9B5E0"/>
                </a:solidFill>
                <a:latin typeface="Calibri"/>
              </a:rPr>
              <a:t>iₜ = σ( Wxi·xₜ + Whi·hₜ₋₁ + bi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450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input gate  — qué nueva info entra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7A"/>
                </a:solidFill>
                <a:latin typeface="Calibri"/>
              </a:rPr>
              <a:t>c̃ₜ = tanh( Wxg·xₜ + Whg·hₜ₋₁ + bg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2278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candidate  — propuesta nueva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oₜ = σ( Wxo·xₜ + Who·hₜ₋₁ + bo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output gate — qué se expone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cₜ = fₜ ⊙ cₜ₋₁  +  iₜ ⊙ c̃ₜ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782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nueva celda  — ← autopista del grad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9496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8640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hₜ = oₜ ⊙ tanh( cₜ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5595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DD"/>
                </a:solidFill>
                <a:latin typeface="Calibri"/>
              </a:rPr>
              <a:t>→  nuevo estado oculto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09360"/>
            <a:ext cx="11430000" cy="45720"/>
          </a:xfrm>
          <a:prstGeom prst="rect">
            <a:avLst/>
          </a:prstGeom>
          <a:solidFill>
            <a:srgbClr val="39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CD97A"/>
                </a:solidFill>
                <a:latin typeface="Calibri"/>
              </a:rPr>
              <a:t>Clave: cₜ = fₜ ⊙ cₜ₋₁ + iₜ ⊙ c̃ₜ  — si fₜ≈1 e iₜ≈0 → gradiente fluye sin atenuarse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LSTM manual en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Compuertas explícitas — exactamente lo que hace nn.LSTM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6583680" cy="4754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309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for t in range(seq_len):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x_t   = x[:, t, :]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gates = W_x(x_t) + W_h(h)     # proyección conjunta 4H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g_f, g_i, g_g, g_o = gates.chunk(4, dim=-1)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f = torch.sigmoid(g_f)         # forget gate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i = torch.sigmoid(g_i)         # input gate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g = torch.tanh(g_g)            # candidate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o = torch.sigmoid(g_o)         # output gate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c = f * c  +  i * g            # actualiza la 'cinta'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h = o * torch.tanh(c)          # nuevo estado oculto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9B5E0"/>
                </a:solidFill>
                <a:latin typeface="Calibri"/>
              </a:rPr>
              <a:t>Observación pedagógica: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La proyección se hace de tamaño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4*hidden_size y luego se divide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en 4 partes (chunk).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Esto es más eficiente que 4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multiplicaciones separadas.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1">
                <a:solidFill>
                  <a:srgbClr val="39B5E0"/>
                </a:solidFill>
                <a:latin typeface="Calibri"/>
              </a:rPr>
              <a:t>Versión con nn.LSTM: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4572000"/>
            <a:ext cx="457200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4663440"/>
            <a:ext cx="4297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E6CF"/>
                </a:solidFill>
                <a:latin typeface="Courier New"/>
              </a:rPr>
              <a:t>lstm = nn.LSTM(input_size,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hidden_size,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               batch_first=True)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_, (h_n, c_n) = lstm(x)</a:t>
            </a:r>
          </a:p>
          <a:p>
            <a:r>
              <a:rPr sz="1300">
                <a:solidFill>
                  <a:srgbClr val="A8E6CF"/>
                </a:solidFill>
                <a:latin typeface="Courier New"/>
              </a:rPr>
              <a:t>return fc(h_n.squeeze(0))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GRU — Gated Recurrent Unit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GRU — Gated Recurrent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Cho et al. (2014) — simplificación eficiente de la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Idea: fusionar forget e input gates en una sola (update gate zₜ).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Eliminar el estado de celda cₜ separado → solo un hₜ.</a:t>
            </a:r>
          </a:p>
          <a:p>
            <a:pPr algn="l"/>
            <a:r>
              <a:rPr sz="1700" b="0">
                <a:solidFill>
                  <a:srgbClr val="4CD97A"/>
                </a:solidFill>
                <a:latin typeface="Calibri"/>
              </a:rPr>
              <a:t>Resultado: ⅓ menos parámetros que LSTM, rendimiento similar.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B5E0"/>
                </a:solidFill>
                <a:latin typeface="Calibri"/>
              </a:rPr>
              <a:t>zₜ = σ( Wxz·xₜ + Whz·hₜ₋₁ + bz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816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→  update gate — ¿cuánto actualizar?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2900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D97A"/>
                </a:solidFill>
                <a:latin typeface="Calibri"/>
              </a:rPr>
              <a:t>rₜ = σ( Wxr·xₜ + Whr·hₜ₋₁ + br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593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→  reset gate  — ¿cuánto del pasado usar?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h̃ₜ = tanh( Wxh·xₜ + Whh·(rₜ⊙hₜ₋₁)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3708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→  candidate   — nueva información propuesta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6400800" cy="658368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4F37"/>
                </a:solidFill>
                <a:latin typeface="Calibri"/>
              </a:rPr>
              <a:t>hₜ = (1−zₜ) ⊙ hₜ₋₁  +  zₜ ⊙ h̃ₜ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148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→  nuevo estado — mezcla pasado y nuevo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9B5E0"/>
                </a:solidFill>
                <a:latin typeface="Calibri"/>
              </a:rPr>
              <a:t>Intuición de hₜ = (1−zₜ)·hₜ₋₁ + zₜ·h̃ₜ: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Si zₜ ≈ 0  →  hₜ ≈ hₜ₋₁  (recuerda el pasado)   |   Si zₜ ≈ 1  →  hₜ ≈ h̃ₜ  (actualiza con info nueva)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Comparación: RNN vs LSTM vs GRU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¿Cuándo usar cada arquitectura?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508760"/>
            <a:ext cx="2743200" cy="5486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508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SimpleRNN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508760"/>
            <a:ext cx="3200400" cy="548640"/>
          </a:xfrm>
          <a:prstGeom prst="rect">
            <a:avLst/>
          </a:prstGeom>
          <a:solidFill>
            <a:srgbClr val="39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508760"/>
            <a:ext cx="3200400" cy="54864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Calibri"/>
              </a:rPr>
              <a:t>GRU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18288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671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Estado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03120"/>
            <a:ext cx="27432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1671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103120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1671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hₜ , cₜ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103120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1671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hₜ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18288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803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Compuertas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816352"/>
            <a:ext cx="27432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2816352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2880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3 (f, i, 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816352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880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 (z, 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529584"/>
            <a:ext cx="18288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5935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Parámetros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529584"/>
            <a:ext cx="27432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3593592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2(d+u)u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3529584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5935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4(d+u)u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3529584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59359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3(d+u)u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42816"/>
            <a:ext cx="18288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0682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Gradientes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242816"/>
            <a:ext cx="27432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43068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Desaparecen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4242816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43068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Fluyen por cₜ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4242816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43068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Fluyen por hₜ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56048"/>
            <a:ext cx="18288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020056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Velocidad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956048"/>
            <a:ext cx="27432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502005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Rápida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4956048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502005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Más lenta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56048"/>
            <a:ext cx="3200400" cy="6858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502005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Intermedia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669280"/>
            <a:ext cx="18288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7332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DD"/>
                </a:solidFill>
                <a:latin typeface="Calibri"/>
              </a:rPr>
              <a:t>Uso ideal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5669280"/>
            <a:ext cx="27432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1720" y="57332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Problemas
simples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5669280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573328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Seq. largas
y complejas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20" y="5669280"/>
            <a:ext cx="3200400" cy="685800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9640" y="573328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Balance
capacidad-velocidad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94F37"/>
                </a:solidFill>
                <a:latin typeface="Calibri"/>
              </a:rPr>
              <a:t>Sección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Resultados y comparación de modelos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Resultados: comparación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Dataset Jena — MAE en grados Celsius (°C), FAST_MODE = False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4663440" cy="50292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270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B5E0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508760"/>
            <a:ext cx="1920240" cy="50292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27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B5E0"/>
                </a:solidFill>
                <a:latin typeface="Calibri"/>
              </a:rPr>
              <a:t>Val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508760"/>
            <a:ext cx="2103120" cy="50292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5270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B5E0"/>
                </a:solidFill>
                <a:latin typeface="Calibri"/>
              </a:rPr>
              <a:t>Test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508760"/>
            <a:ext cx="2560320" cy="50292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527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B5E0"/>
                </a:solidFill>
                <a:latin typeface="Calibri"/>
              </a:rPr>
              <a:t>Parámetros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46634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2057400"/>
            <a:ext cx="19202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2057400"/>
            <a:ext cx="21031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2057400"/>
            <a:ext cx="25603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305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Baseline sentido común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30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30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305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06040"/>
            <a:ext cx="46634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606040"/>
            <a:ext cx="19202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0" y="2606040"/>
            <a:ext cx="21031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606040"/>
            <a:ext cx="25603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7919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  <a:latin typeface="Calibri"/>
              </a:rPr>
              <a:t>MLP (red densa)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79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791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791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~27.000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46634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0" y="3154680"/>
            <a:ext cx="19202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0" y="3154680"/>
            <a:ext cx="21031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3154680"/>
            <a:ext cx="25603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278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4F37"/>
                </a:solidFill>
                <a:latin typeface="Calibri"/>
              </a:rPr>
              <a:t>RNN Manual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2278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~2.60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2278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2278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~800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03320"/>
            <a:ext cx="46634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20640" y="3703320"/>
            <a:ext cx="19202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0" y="3703320"/>
            <a:ext cx="21031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3703320"/>
            <a:ext cx="25603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7764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4F37"/>
                </a:solidFill>
                <a:latin typeface="Calibri"/>
              </a:rPr>
              <a:t>nn.RNN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7764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7764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77647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~800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51960"/>
            <a:ext cx="46634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20640" y="4251960"/>
            <a:ext cx="19202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0" y="4251960"/>
            <a:ext cx="21031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26880" y="4251960"/>
            <a:ext cx="25603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3251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LSTM Manual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325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3251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325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~3.200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800600"/>
            <a:ext cx="46634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20640" y="4800600"/>
            <a:ext cx="19202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2320" y="4800600"/>
            <a:ext cx="21031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26880" y="4800600"/>
            <a:ext cx="25603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8737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nn.LSTM + dropout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8737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48737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87375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~3.200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349240"/>
            <a:ext cx="46634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20640" y="5349240"/>
            <a:ext cx="192024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32320" y="5349240"/>
            <a:ext cx="21031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26880" y="5349240"/>
            <a:ext cx="2560320" cy="521207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42239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D97A"/>
                </a:solidFill>
                <a:latin typeface="Calibri"/>
              </a:rPr>
              <a:t>GRU Manual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54223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5422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~2.58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54223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~2.400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897880"/>
            <a:ext cx="46634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0" y="5897880"/>
            <a:ext cx="192024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32320" y="5897880"/>
            <a:ext cx="21031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26880" y="5897880"/>
            <a:ext cx="2560320" cy="521207"/>
          </a:xfrm>
          <a:prstGeom prst="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9710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D97A"/>
                </a:solidFill>
                <a:latin typeface="Calibri"/>
              </a:rPr>
              <a:t>GRU Apilada + dropout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59710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5971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~2.52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59710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  <a:latin typeface="Calibri"/>
              </a:rPr>
              <a:t>~4.800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Lecciones clave: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1. Establecer un baseline primero.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 La heurística simple puede ser difícil de superar.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2. Las RNNs preservan el orden temporal.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 A diferencia del MLP que aplana y destruye la secuencia.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3. Las compuertas son la clave.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 fₜ⊙cₜ₋₁ (LSTM) y (1-zₜ)⊙hₜ₋₁ (GRU) crean autopistas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 para el gradiente → resuelven el vanishing gradient.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4. Implementar desde cero vale la pena.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 Ver el loop y cada compuerta explica qué hace nn.LSTM.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463040"/>
            <a:ext cx="45720" cy="5029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B5E0"/>
                </a:solidFill>
                <a:latin typeface="Calibri"/>
              </a:rPr>
              <a:t>¿Cómo continuar?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• Bidirectional RNNs: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Procesar en ambas direcciones (NLP)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• Attention y Transformers: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La arquitectura que reemplazó a las RNNs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en la mayoría de los tareas de NLP.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• Regularización avanzada: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recurrent_dropout, weight_decay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• Feature engineering:</a:t>
            </a:r>
          </a:p>
          <a:p>
            <a:pPr algn="l"/>
            <a:r>
              <a:rPr sz="1500" b="0">
                <a:solidFill>
                  <a:srgbClr val="CCCCDD"/>
                </a:solidFill>
                <a:latin typeface="Calibri"/>
              </a:rPr>
              <a:t>  Hora del día, mes del año,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9B5E0"/>
                </a:solidFill>
                <a:latin typeface="Calibri"/>
              </a:rPr>
              <a:t>Ejercicios propuestos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  <a:latin typeface="Calibri"/>
              </a:rPr>
              <a:t>Para practicar en el notebook 02_rnn_lstm_gru_timeseries.ipynb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9436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Poné FAST_MODE = False y entrenás más épocas.
¿Cuánto mejoran los modelos?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9436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Aumentá HIDDEN a 64 o 128 en la LSTM.
¿Cuándo empieza a overfittear?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59436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Implementá un ManualLSTMModel bidireccional procesando la secuencia
en orden inverso y promediando con el modelo normal.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59436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Probá sequence_length = 240 (10 días de historia).
¿Mejora el pronóstico?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59436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5778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  <a:latin typeface="Calibri"/>
              </a:rPr>
              <a:t>Modificá ManualLSTMModel para devolver los estados en cada timestep
y visualizarlos como heatmap (igual que la RNN en rnn_example.ipynb).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